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6294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8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GEXTON EDUCATION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Program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Success Prediction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Task #12 — Predictive Analytics &amp; Business Insights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663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Sir Muhammad Arham MH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074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• Classification • Streamlit 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62956" cy="685800"/>
          </a:xfrm>
          <a:prstGeom prst="roundRect">
            <a:avLst>
              <a:gd name="adj" fmla="val 10667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6459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600200"/>
            <a:ext cx="45857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77356" y="1554480"/>
            <a:ext cx="5362956" cy="685800"/>
          </a:xfrm>
          <a:prstGeom prst="roundRect">
            <a:avLst>
              <a:gd name="adj" fmla="val 10667"/>
            </a:avLst>
          </a:prstGeom>
          <a:solidFill>
            <a:srgbClr val="EAF1FA"/>
          </a:solidFill>
          <a:ln/>
        </p:spPr>
      </p:sp>
      <p:sp>
        <p:nvSpPr>
          <p:cNvPr id="7" name="Text 5"/>
          <p:cNvSpPr/>
          <p:nvPr/>
        </p:nvSpPr>
        <p:spPr>
          <a:xfrm>
            <a:off x="6414516" y="16459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917436" y="1600200"/>
            <a:ext cx="45857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362956" cy="685800"/>
          </a:xfrm>
          <a:prstGeom prst="roundRect">
            <a:avLst>
              <a:gd name="adj" fmla="val 10667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146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2468880"/>
            <a:ext cx="45857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77356" y="2423160"/>
            <a:ext cx="5362956" cy="685800"/>
          </a:xfrm>
          <a:prstGeom prst="roundRect">
            <a:avLst>
              <a:gd name="adj" fmla="val 10667"/>
            </a:avLst>
          </a:prstGeom>
          <a:solidFill>
            <a:srgbClr val="EAF1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14516" y="25146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17436" y="2468880"/>
            <a:ext cx="45857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 &amp; Comparison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5362956" cy="685800"/>
          </a:xfrm>
          <a:prstGeom prst="roundRect">
            <a:avLst>
              <a:gd name="adj" fmla="val 10667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83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3337560"/>
            <a:ext cx="45857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77356" y="3291840"/>
            <a:ext cx="5362956" cy="685800"/>
          </a:xfrm>
          <a:prstGeom prst="roundRect">
            <a:avLst>
              <a:gd name="adj" fmla="val 10667"/>
            </a:avLst>
          </a:prstGeom>
          <a:solidFill>
            <a:srgbClr val="EAF1FA"/>
          </a:solidFill>
          <a:ln/>
        </p:spPr>
      </p:sp>
      <p:sp>
        <p:nvSpPr>
          <p:cNvPr id="19" name="Text 17"/>
          <p:cNvSpPr/>
          <p:nvPr/>
        </p:nvSpPr>
        <p:spPr>
          <a:xfrm>
            <a:off x="6414516" y="3383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17436" y="3337560"/>
            <a:ext cx="45857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on New Movies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5362956" cy="685800"/>
          </a:xfrm>
          <a:prstGeom prst="roundRect">
            <a:avLst>
              <a:gd name="adj" fmla="val 10667"/>
            </a:avLst>
          </a:prstGeom>
          <a:solidFill>
            <a:srgbClr val="F2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2519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88720" y="4206240"/>
            <a:ext cx="45857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Recommendations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77356" y="4160520"/>
            <a:ext cx="5362956" cy="685800"/>
          </a:xfrm>
          <a:prstGeom prst="roundRect">
            <a:avLst>
              <a:gd name="adj" fmla="val 10667"/>
            </a:avLst>
          </a:prstGeom>
          <a:solidFill>
            <a:srgbClr val="EAF1FA"/>
          </a:solidFill>
          <a:ln/>
        </p:spPr>
      </p:sp>
      <p:sp>
        <p:nvSpPr>
          <p:cNvPr id="25" name="Text 23"/>
          <p:cNvSpPr/>
          <p:nvPr/>
        </p:nvSpPr>
        <p:spPr>
          <a:xfrm>
            <a:off x="6414516" y="42519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17436" y="4206240"/>
            <a:ext cx="45857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Deliverables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Success Prediction — Gexton Education Summer Internship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6675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machine learning model to predict whether a movie is likely to become a commercial success, based on genre, budget, runtime, cast popularity, release year, audience ratings, and related attributes.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29184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474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4069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Analyzed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40280" y="329184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2240280" y="3474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40280" y="4069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 Covered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329184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3474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931920" y="4069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23560" y="329184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5623560" y="3474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23560" y="4069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F1-Score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89520" y="1554480"/>
            <a:ext cx="4023360" cy="4114800"/>
          </a:xfrm>
          <a:prstGeom prst="rect">
            <a:avLst/>
          </a:prstGeom>
          <a:solidFill>
            <a:srgbClr val="EAF1FA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Work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18120" y="219456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EDA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encoding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tuning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New-movie prediction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deployment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Success Prediction — Gexton Education Summer Internship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movies × 17 attributes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108960"/>
        </p:xfrm>
        <a:graphic>
          <a:graphicData uri="http://schemas.openxmlformats.org/drawingml/2006/table">
            <a:tbl>
              <a:tblPr/>
              <a:tblGrid>
                <a:gridCol w="2560320"/>
                <a:gridCol w="850392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genre, budget_million, runtime_minutes, release_year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cast_popularity, director_popularity, director_tier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studio_type, num_screens, marketing_spend_million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critic_score, social_media_buzz, audience_rating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revenue_million, roi, is_success (target)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is defined as: revenue ≥ 2× budget AND audience rating ≥ 6.0 / 10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audience_rating is excluded from model features to prevent target leakage, since it directly informed the success label.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Success Prediction — Gexton Education Summer Internship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distribution across the dataset</a:t>
            </a:r>
            <a:endParaRPr lang="en-US" sz="1500" dirty="0"/>
          </a:p>
        </p:txBody>
      </p:sp>
      <p:pic>
        <p:nvPicPr>
          <p:cNvPr id="4" name="Image 0" descr="/home/claude/movie_success_prediction/charts/genr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508760"/>
            <a:ext cx="6858000" cy="3813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Success Prediction — Gexton Education Summer Internship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vs. Revenue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budgets trend toward higher revenue, but success is not guaranteed</a:t>
            </a:r>
            <a:endParaRPr lang="en-US" sz="1500" dirty="0"/>
          </a:p>
        </p:txBody>
      </p:sp>
      <p:pic>
        <p:nvPicPr>
          <p:cNvPr id="4" name="Image 0" descr="/home/claude/movie_success_prediction/charts/budget_vs_reve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1554480"/>
            <a:ext cx="5971032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Success Prediction — Gexton Education Summer Internship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by Genre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Animation, Action, and Sci-Fi lead in success rate</a:t>
            </a:r>
            <a:endParaRPr lang="en-US" sz="1500" dirty="0"/>
          </a:p>
        </p:txBody>
      </p:sp>
      <p:pic>
        <p:nvPicPr>
          <p:cNvPr id="4" name="Image 0" descr="/home/claude/movie_success_prediction/charts/success_rate_by_gen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508760"/>
            <a:ext cx="6858000" cy="3813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Success Prediction — Gexton Education Summer Internship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&amp; Director Effects on Success</a:t>
            </a:r>
            <a:endParaRPr lang="en-US" sz="3000" dirty="0"/>
          </a:p>
        </p:txBody>
      </p:sp>
      <p:pic>
        <p:nvPicPr>
          <p:cNvPr id="3" name="Image 0" descr="/home/claude/movie_success_prediction/charts/success_by_studio_and_dire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10543032" cy="4050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Success Prediction — Gexton Education Summer Internship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between numeric features</a:t>
            </a:r>
            <a:endParaRPr lang="en-US" sz="1500" dirty="0"/>
          </a:p>
        </p:txBody>
      </p:sp>
      <p:pic>
        <p:nvPicPr>
          <p:cNvPr id="4" name="Image 0" descr="/home/claude/movie_success_prediction/charts/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1417320"/>
            <a:ext cx="7315200" cy="53218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Success Prediction — Gexton Education Summer Internship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848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18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554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023360" y="15544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test, stratified by target class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423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023360" y="24231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scaling (numeric) + one-hot encoding (categorical) in a single pipeline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5584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23360" y="32918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Random Forest, Decision Tree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2452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4160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023360" y="41605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with 5-fold cross-validation, optimizing F1-score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09320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093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5029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23360" y="50292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chosen by highest F1-score on the test set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Success Prediction — Gexton Education Summer Internship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2194560"/>
        </p:xfrm>
        <a:graphic>
          <a:graphicData uri="http://schemas.openxmlformats.org/drawingml/2006/table">
            <a:tbl>
              <a:tblPr/>
              <a:tblGrid>
                <a:gridCol w="3383280"/>
                <a:gridCol w="1920240"/>
                <a:gridCol w="1920240"/>
                <a:gridCol w="1920240"/>
                <a:gridCol w="19202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86.7%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78.3%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75.3%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77.3%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76.3%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selected as the best-performing model based on F1-score.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Success Prediction — Gexton Education Summer Internship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best-performing model</a:t>
            </a:r>
            <a:endParaRPr lang="en-US" sz="1500" dirty="0"/>
          </a:p>
        </p:txBody>
      </p:sp>
      <p:pic>
        <p:nvPicPr>
          <p:cNvPr id="4" name="Image 0" descr="/home/claude/movie_success_prediction/charts/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554480"/>
            <a:ext cx="4480560" cy="3730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Success Prediction — Gexton Education Summer Internship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factors driving predicted success</a:t>
            </a:r>
            <a:endParaRPr lang="en-US" sz="1500" dirty="0"/>
          </a:p>
        </p:txBody>
      </p:sp>
      <p:pic>
        <p:nvPicPr>
          <p:cNvPr id="4" name="Image 0" descr="/home/claude/movie_success_prediction/charts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1463040"/>
            <a:ext cx="6675120" cy="5193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Success Prediction — Gexton Education Summer Internship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on New Movie Concepts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292608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194560"/>
                <a:gridCol w="2377440"/>
                <a:gridCol w="192024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 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($M)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NEW-001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Successful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NEW-002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Successful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NEW-003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Successful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NEW-004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Horror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Successful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NEW-005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Sci-Fi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Successful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Success Prediction — Gexton Education Summer Internship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EAF1F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64208"/>
            <a:ext cx="4905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Strategy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029968"/>
            <a:ext cx="49057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Animation, Action, and Sci-Fi for high-budget investment.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77356" y="155448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6505956" y="1664208"/>
            <a:ext cx="4905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&amp; Studio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05956" y="2029968"/>
            <a:ext cx="49057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A-List directors and Major Studio backing measurably lift success rates.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EAF1F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35808"/>
            <a:ext cx="4905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401568"/>
            <a:ext cx="49057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screen counts correlate positively with success — negotiate strong commitments.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77356" y="292608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6505956" y="3035808"/>
            <a:ext cx="4905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05956" y="3401568"/>
            <a:ext cx="49057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marketing spend proportionally with production budget.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EAF1F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407408"/>
            <a:ext cx="4905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Signals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773168"/>
            <a:ext cx="49057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critic score and social media buzz as leading indicators pre-release.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77356" y="429768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6505956" y="4407408"/>
            <a:ext cx="4905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05956" y="4773168"/>
            <a:ext cx="49057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studios should lean on strong critic scores and buzz to offset budget gaps.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Success Prediction — Gexton Education Summer Internship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delivers a complete, reproducible machine learning workflow — from data preparation through model deployment — that predicts movie commercial success and provides actionable insights for producers and studios.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Cleaned dataset &amp; saved model (.pkl)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17920" y="30175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Prediction results on new records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Business insights &amp; recommendations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0" y="36118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Final report (Word) &amp; presentation (PPT)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Interactive Streamlit application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0" y="42062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GitHub-ready repository with documentation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5486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2026-07-16T08:25:10Z</dcterms:created>
  <dcterms:modified xsi:type="dcterms:W3CDTF">2026-07-16T08:25:10Z</dcterms:modified>
</cp:coreProperties>
</file>